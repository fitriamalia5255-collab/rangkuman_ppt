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08140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411759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Segoe UI"/>
              </a:rPr>
              <a:t>BERDASARKAN MODUL ERMA SUSANTI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78459"/>
            <a:ext cx="11430000" cy="700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b="1" sz="4800" i="0" u="none">
                <a:solidFill>
                  <a:srgbClr val="FFFFFF"/>
                </a:solidFill>
                <a:latin typeface="Segoe UI"/>
              </a:rPr>
              <a:t>Pemrograman Mobile </a:t>
            </a:r>
            <a:r>
              <a:rPr b="1" sz="4800" i="0" u="none">
                <a:solidFill>
                  <a:srgbClr val="60A5FA"/>
                </a:solidFill>
                <a:latin typeface="Segoe UI"/>
              </a:rPr>
              <a:t>Android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31840"/>
            <a:ext cx="58102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Segoe UI"/>
              </a:rPr>
              <a:t>Eksplorasi Komprehensif Arsitektur, Komponen Inti, UI/UX, Background Task, hingga Database Cloud.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11700" y="3032819"/>
            <a:ext cx="116859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Segoe UI"/>
              </a:rPr>
              <a:t>BAGIAN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8190" y="3299519"/>
            <a:ext cx="8075618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Pengenalan Platform Android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935360"/>
            <a:ext cx="340355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94150" y="1935360"/>
            <a:ext cx="340355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26300" y="1935360"/>
            <a:ext cx="340355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935360"/>
            <a:ext cx="38100" cy="416063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94150" y="1935360"/>
            <a:ext cx="38100" cy="4160639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26300" y="1935360"/>
            <a:ext cx="38100" cy="416063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1: PENGENALAN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28700"/>
            <a:ext cx="114300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Arsitektur Sistem 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240160"/>
            <a:ext cx="361705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Linux Kernel &amp; HAL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2617291"/>
            <a:ext cx="2851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Mengelola driver perangkat keras, manajemen memori, proses, dan alokasi daya tingkat dasar.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7050" y="2240160"/>
            <a:ext cx="361705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Runtime &amp;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7050" y="2617291"/>
            <a:ext cx="2851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ART (Android Runtime) mengeksekusi bytecode aplikasi didukung pustaka native C/C++.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200" y="2240160"/>
            <a:ext cx="361705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Java API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9200" y="2617291"/>
            <a:ext cx="2851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Menyediakan sekumpulan pengelola sistem (Activity, Location, Notification) untuk pengembang.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04417"/>
            <a:ext cx="6477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1: PENGENALAN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71117"/>
            <a:ext cx="680085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Struktur Proyek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8597" y="2400300"/>
            <a:ext cx="3815506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500" i="0" u="none">
                <a:solidFill>
                  <a:srgbClr val="38BDF8"/>
                </a:solidFill>
                <a:latin typeface="monospace"/>
              </a:rPr>
              <a:t>app/src/main/</a:t>
            </a:r>
            <a:r>
              <a:t>
</a:t>
            </a:r>
            <a:r>
              <a:rPr b="0" sz="1500" i="0" u="none">
                <a:solidFill>
                  <a:srgbClr val="38BDF8"/>
                </a:solidFill>
                <a:latin typeface="monospace"/>
              </a:rPr>
              <a:t> ├── AndroidManifest.xml</a:t>
            </a:r>
            <a:r>
              <a:t>
</a:t>
            </a:r>
            <a:r>
              <a:rPr b="0" sz="1500" i="0" u="none">
                <a:solidFill>
                  <a:srgbClr val="38BDF8"/>
                </a:solidFill>
                <a:latin typeface="monospace"/>
              </a:rPr>
              <a:t> ├── java/com/app/main/</a:t>
            </a:r>
            <a:r>
              <a:t>
</a:t>
            </a:r>
            <a:r>
              <a:rPr b="0" sz="1500" i="0" u="none">
                <a:solidFill>
                  <a:srgbClr val="38BDF8"/>
                </a:solidFill>
                <a:latin typeface="monospace"/>
              </a:rPr>
              <a:t> └── res/</a:t>
            </a:r>
            <a:r>
              <a:t>
</a:t>
            </a:r>
            <a:r>
              <a:rPr b="0" sz="1500" i="0" u="none">
                <a:solidFill>
                  <a:srgbClr val="38BDF8"/>
                </a:solidFill>
                <a:latin typeface="monospace"/>
              </a:rPr>
              <a:t>     ├── layout/activity_main.xml</a:t>
            </a:r>
            <a:r>
              <a:t>
</a:t>
            </a:r>
            <a:r>
              <a:rPr b="0" sz="1500" i="0" u="none">
                <a:solidFill>
                  <a:srgbClr val="38BDF8"/>
                </a:solidFill>
                <a:latin typeface="monospace"/>
              </a:rPr>
              <a:t>     └── values/strings.xml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87278"/>
            <a:ext cx="6477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AndroidManifest.xml: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Pusat deklarasi izin dan identitas aplikasi.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60539"/>
            <a:ext cx="6477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java/: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Tempat penyimpanan source code logika berbasis Java.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733800"/>
            <a:ext cx="6477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res/layout/: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Definisi struktur tampilan visual dalam format XML.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07060"/>
            <a:ext cx="6477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res/values/: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Konfigurasi string teks, palet warna, dan dimensi.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480321"/>
            <a:ext cx="6477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build.gradle: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Pengelola skrip kompilasi dan dependensi pustaka.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11700" y="3032819"/>
            <a:ext cx="116859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Segoe UI"/>
              </a:rPr>
              <a:t>BAGIAN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32687" y="3299519"/>
            <a:ext cx="7126476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Komponen Dasar Aplikasi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211585"/>
            <a:ext cx="2011709" cy="38844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109" y="2211585"/>
            <a:ext cx="2011709" cy="38844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90219" y="2211585"/>
            <a:ext cx="2011709" cy="38844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54329" y="2211585"/>
            <a:ext cx="2011709" cy="38844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439" y="2211585"/>
            <a:ext cx="2011709" cy="38844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2211585"/>
            <a:ext cx="38100" cy="388441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109" y="2211585"/>
            <a:ext cx="38100" cy="388441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90219" y="2211585"/>
            <a:ext cx="38100" cy="388441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54329" y="2211585"/>
            <a:ext cx="38100" cy="388441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439" y="2211585"/>
            <a:ext cx="38100" cy="388441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7620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2: KOMPONEN DASAR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28700"/>
            <a:ext cx="114300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Siklus Hidup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170676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egoe UI"/>
              </a:rPr>
              <a:t>Alur manajemen memori dan status eksekusi layar interaktif.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2516385"/>
            <a:ext cx="17902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onCreate()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2849760"/>
            <a:ext cx="145925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Inisialisasi variabel dan pasang layout XML.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9009" y="2516385"/>
            <a:ext cx="17902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onStart()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9009" y="2849760"/>
            <a:ext cx="145925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Layar bersiap untuk tampil di hadapan pengguna.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3119" y="2516385"/>
            <a:ext cx="17902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onResume()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3119" y="2849760"/>
            <a:ext cx="145925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Layar aktif penuh dan menerima input interaksi.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7229" y="2516385"/>
            <a:ext cx="17902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onPause()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7229" y="2849760"/>
            <a:ext cx="145925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Layar kehilangan fokus utama (tertutup sebagian).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1339" y="2516385"/>
            <a:ext cx="17902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onDestroy()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1339" y="2849760"/>
            <a:ext cx="145925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Pembersihan total memori proses oleh sistem.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840110"/>
            <a:ext cx="3352800" cy="4255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19600" y="1840110"/>
            <a:ext cx="3352800" cy="4255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7200" y="1840110"/>
            <a:ext cx="3352800" cy="4255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840110"/>
            <a:ext cx="38100" cy="425588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19600" y="1840110"/>
            <a:ext cx="38100" cy="4255889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1840110"/>
            <a:ext cx="38100" cy="425588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2: KOMPONEN DASAR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28700"/>
            <a:ext cx="114300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Mekanisme Intent &amp;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144910"/>
            <a:ext cx="355044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Explicit 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2522041"/>
            <a:ext cx="2800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Navigasi langsung dengan menyebutkan kelas tujuan secara eksplisit (ex: </a:t>
            </a:r>
            <a:r>
              <a:rPr b="0" sz="1200" i="1" u="none">
                <a:solidFill>
                  <a:srgbClr val="475569"/>
                </a:solidFill>
                <a:latin typeface="Segoe UI"/>
              </a:rPr>
              <a:t>DetailActivity.class</a:t>
            </a:r>
            <a:r>
              <a:rPr b="0" sz="1200" i="0" u="none">
                <a:solidFill>
                  <a:srgbClr val="475569"/>
                </a:solidFill>
                <a:latin typeface="Segoe UI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0" y="2144910"/>
            <a:ext cx="355044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Implicit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0" y="2522041"/>
            <a:ext cx="2800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Mendelegasikan tugas ke sistem operasi tanpa target kelas spesifik (ex: membuka browser/peta).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2144910"/>
            <a:ext cx="355044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Payload &amp; Bundle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0100" y="2522041"/>
            <a:ext cx="2800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Mengirim data antar komponen menggunakan metode </a:t>
            </a:r>
            <a:r>
              <a:rPr b="0" sz="1200" i="0" u="none">
                <a:solidFill>
                  <a:srgbClr val="475569"/>
                </a:solidFill>
                <a:latin typeface="Segoe UI"/>
              </a:rPr>
              <a:t>putExtra()</a:t>
            </a:r>
            <a:r>
              <a:rPr b="0" sz="1200" i="0" u="none">
                <a:solidFill>
                  <a:srgbClr val="475569"/>
                </a:solidFill>
                <a:latin typeface="Segoe UI"/>
              </a:rPr>
              <a:t> atau objek </a:t>
            </a:r>
            <a:r>
              <a:rPr b="0" sz="1200" i="0" u="none">
                <a:solidFill>
                  <a:srgbClr val="475569"/>
                </a:solidFill>
                <a:latin typeface="Segoe UI"/>
              </a:rPr>
              <a:t>Parcelable</a:t>
            </a:r>
            <a:r>
              <a:rPr b="0" sz="1200" i="0" u="none">
                <a:solidFill>
                  <a:srgbClr val="475569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0" y="2638425"/>
            <a:ext cx="4572000" cy="1581150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81850" y="3267075"/>
            <a:ext cx="1409700" cy="628650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43950" y="3267075"/>
            <a:ext cx="2362200" cy="628650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831181"/>
            <a:ext cx="571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2: KOMPONEN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097881"/>
            <a:ext cx="600075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Arsitektur Fragment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814042"/>
            <a:ext cx="46672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Berfungsi sebagai sub-bagian antarmuka modular di dalam Activity.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27214"/>
            <a:ext cx="5715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Memiliki file tata letak layout XML mandiri.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800475"/>
            <a:ext cx="46672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Siklus hidupnya terikat secara langsung pada Activity induk.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413646"/>
            <a:ext cx="46672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Solusi optimal untuk desain tampilan adaptif layar lebar / tablet.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1312" y="2962275"/>
            <a:ext cx="4905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Segoe UI"/>
              </a:rPr>
              <a:t>STRUKTUR MULTI-PANE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4237" y="3495675"/>
            <a:ext cx="1304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Segoe UI"/>
              </a:rPr>
              <a:t>Fragment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7275" y="3495675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Segoe UI"/>
              </a:rPr>
              <a:t>Fragment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11700" y="3032819"/>
            <a:ext cx="116859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Segoe UI"/>
              </a:rPr>
              <a:t>BAGIAN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19915" y="3299519"/>
            <a:ext cx="835202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Antarmuka Pengguna (UI / UX)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935360"/>
            <a:ext cx="335280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19600" y="1935360"/>
            <a:ext cx="335280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7200" y="1935360"/>
            <a:ext cx="335280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935360"/>
            <a:ext cx="38100" cy="416063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19600" y="1935360"/>
            <a:ext cx="38100" cy="4160639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1935360"/>
            <a:ext cx="38100" cy="416063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3: UI &amp;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28700"/>
            <a:ext cx="114300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View &amp; ViewGroup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240160"/>
            <a:ext cx="355044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Komponen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2617291"/>
            <a:ext cx="2800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Elemen visual interaktif tunggal seperti TextView, Button, EditText, dan CheckBox.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0" y="2240160"/>
            <a:ext cx="355044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ConstraintLayout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0" y="2617291"/>
            <a:ext cx="2800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Pengatur posisi relasional antar komponen untuk menghindari penumpukan hirarki layout.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2240160"/>
            <a:ext cx="355044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LinearLayout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0100" y="2617291"/>
            <a:ext cx="2800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Wadah kontainer penyusun elemen secara linear berurutan (vertikal atau horizontal).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67600" y="2981325"/>
            <a:ext cx="39624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67600" y="2981325"/>
            <a:ext cx="39624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711225"/>
            <a:ext cx="6477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3: UI &amp;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977925"/>
            <a:ext cx="680085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Umpan Balik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94086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Toast: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Pesan pop-up teks singkat yang tampil sementara lalu menghilang otomatis.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07258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AlertDialog: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Jendela dialog interupsi untuk meminta konfirmasi langsung dari pengguna.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20430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Picker Dialog: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Modul antarmuka standar untuk pemilihan tanggal dan waktu spesifik.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533602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Menu Sistem: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Pengelola navigasi opsi (App bar, Context menu, Popup menu).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8050" y="3248025"/>
            <a:ext cx="438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Segoe UI"/>
              </a:rPr>
              <a:t>PEMBERITAHUAN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8050" y="3476625"/>
            <a:ext cx="4381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Segoe UI"/>
              </a:rPr>
              <a:t>Data berhasil disimpan ke dalam database lokal.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173485"/>
            <a:ext cx="2524125" cy="39225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6625" y="2173485"/>
            <a:ext cx="2524125" cy="39225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0" y="2173485"/>
            <a:ext cx="2524125" cy="39225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05875" y="2173485"/>
            <a:ext cx="2524125" cy="39225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2173485"/>
            <a:ext cx="38100" cy="392251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6625" y="2173485"/>
            <a:ext cx="38100" cy="392251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2173485"/>
            <a:ext cx="38100" cy="392251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05875" y="2173485"/>
            <a:ext cx="38100" cy="392251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7620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3: UI &amp;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28700"/>
            <a:ext cx="114300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Arsitektur RecyclerView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66866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egoe UI"/>
              </a:rPr>
              <a:t>Standar industri untuk merender daftar item panjang secara efisien.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2478285"/>
            <a:ext cx="24628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Model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2811660"/>
            <a:ext cx="19716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Struktur kelas objek penyimpan informasi entitas.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9525" y="2478285"/>
            <a:ext cx="24628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9525" y="2811660"/>
            <a:ext cx="19716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Jembatan penghubung sumber data ke ViewHolder 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2478285"/>
            <a:ext cx="24628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ViewHolder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150" y="2811660"/>
            <a:ext cx="19716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Cache memori referensi komponen tampilan baris.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2478285"/>
            <a:ext cx="24628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LayoutManager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775" y="2811660"/>
            <a:ext cx="19716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Pengatur orientasi susunan (Linear atau Grid).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11700" y="3032819"/>
            <a:ext cx="116859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Segoe UI"/>
              </a:rPr>
              <a:t>BAGIAN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94332" y="3299519"/>
            <a:ext cx="4803334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Background Task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935360"/>
            <a:ext cx="518160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1935360"/>
            <a:ext cx="518160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935360"/>
            <a:ext cx="38100" cy="416063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1935360"/>
            <a:ext cx="38100" cy="4160639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4: BACKGROUND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28700"/>
            <a:ext cx="114300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Penjadwalan Latar Belakang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240160"/>
            <a:ext cx="595074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AlarmManager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2240160"/>
            <a:ext cx="5600700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JobScheduler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731591"/>
            <a:ext cx="56673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Eksekusi tugas berdasarkan presisi waktu spesifik.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104852"/>
            <a:ext cx="56673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Memicu Intent via BroadcastReceiver.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478113"/>
            <a:ext cx="46291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Mendukung mode Wakeup untuk membangunkan perangkat dari sleep.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2731591"/>
            <a:ext cx="56007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Eksekusi tugas bersyarat untuk penghematan daya.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104852"/>
            <a:ext cx="46291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Berjalan otomatis saat kriteria terpenuhi (Charging / WiFi aktif).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718024"/>
            <a:ext cx="56007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Standar modern pengelolaan proses di balik layar.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67600" y="2905125"/>
            <a:ext cx="39624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96200" y="31337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711225"/>
            <a:ext cx="6477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4: BACKGROUND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977925"/>
            <a:ext cx="680085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Anatomi Notifikasi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94086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Notification Channel: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Wajib untuk API 26+ guna mengatur kategori prioritas.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07258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NotificationCompat.Builder: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Merakit komponen ikon, judul, dan isi pesan.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20430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PendingIntent: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Delegasi aksi interaktif ketika notifikasi ditekan pengguna.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533602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NotificationManager: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Eksekutor utama pemanggilan perintah tampil.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8050" y="3362325"/>
            <a:ext cx="4381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Segoe UI"/>
              </a:rPr>
              <a:t>Pembaruan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8050" y="3571875"/>
            <a:ext cx="438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Segoe UI"/>
              </a:rPr>
              <a:t>Sinkronisasi data latar belakang selesai.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925" y="3138487"/>
            <a:ext cx="13477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Segoe UI"/>
              </a:rPr>
              <a:t>Aplikasi • Baru saja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11700" y="3032819"/>
            <a:ext cx="116859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Segoe UI"/>
              </a:rPr>
              <a:t>BAGIAN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81924" y="3299519"/>
            <a:ext cx="6828001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Penyimpanan Data Lokal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935360"/>
            <a:ext cx="335280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19600" y="1935360"/>
            <a:ext cx="335280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7200" y="1935360"/>
            <a:ext cx="335280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935360"/>
            <a:ext cx="38100" cy="416063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19600" y="1935360"/>
            <a:ext cx="38100" cy="4160639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1935360"/>
            <a:ext cx="38100" cy="416063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5: PENYIMPANAN LOKAL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28700"/>
            <a:ext cx="114300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Arsitektur Penyimpanan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240160"/>
            <a:ext cx="355044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Internal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2617291"/>
            <a:ext cx="2800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Area privat eksklusif aplikasi. Otomatis terhapus saat aplikasi di-uninstall dari perangkat.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0" y="2240160"/>
            <a:ext cx="355044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External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0" y="2617291"/>
            <a:ext cx="2800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Area publik bersama. Berkas dapat diakses atau dibagikan ke aplikasi 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2240160"/>
            <a:ext cx="355044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SharedPreferences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0100" y="2617291"/>
            <a:ext cx="2800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Segoe UI"/>
              </a:rPr>
              <a:t>Media penyimpanan ringan berformat pasangan key-value sederhana.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0" y="2509837"/>
            <a:ext cx="4572000" cy="1838325"/>
          </a:xfrm>
          <a:prstGeom prst="roundRect">
            <a:avLst>
              <a:gd name="adj" fmla="val 62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680394"/>
            <a:ext cx="571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Segoe UI"/>
              </a:rPr>
              <a:t>BAB 5: PENYIMPANAN LOKAL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947094"/>
            <a:ext cx="600075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Segoe UI"/>
              </a:rPr>
              <a:t>SharedPreferences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663255"/>
            <a:ext cx="4667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Segoe UI"/>
              </a:rPr>
              <a:t>Solusi persistensi data state skala kecil yang bertahan melampaui siklus aktif sesi aplikasi.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2325" y="2824162"/>
            <a:ext cx="4929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monospace"/>
              </a:rPr>
              <a:t>// Contoh Implementasi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2325" y="3119437"/>
            <a:ext cx="4038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monospace"/>
              </a:rPr>
              <a:t>SharedPreferences pref = getSharedPreferences("sesi", MODE_PRIVATE);</a:t>
            </a:r>
            <a:r>
              <a:t>
</a:t>
            </a:r>
            <a:r>
              <a:rPr b="0" sz="1125" i="0" u="none">
                <a:solidFill>
                  <a:srgbClr val="F8FAFC"/>
                </a:solidFill>
                <a:latin typeface="monospace"/>
              </a:rPr>
              <a:t> pref.edit().putString("user", "Admin").apply();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840110"/>
            <a:ext cx="2524125" cy="4255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6625" y="1840110"/>
            <a:ext cx="2524125" cy="4255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0" y="1840110"/>
            <a:ext cx="2524125" cy="4255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05875" y="1840110"/>
            <a:ext cx="2524125" cy="4255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1840110"/>
            <a:ext cx="38100" cy="425588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6625" y="1840110"/>
            <a:ext cx="38100" cy="4255889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1840110"/>
            <a:ext cx="38100" cy="425588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05875" y="1840110"/>
            <a:ext cx="38100" cy="425588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7620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5: PENYIMPANAN LOKAL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28700"/>
            <a:ext cx="114300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Alur Kerja SQLite CRUD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2144910"/>
            <a:ext cx="24628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Skema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2478285"/>
            <a:ext cx="197167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Menggunakan </a:t>
            </a:r>
            <a:r>
              <a:rPr b="0" sz="1125" i="1" u="none">
                <a:solidFill>
                  <a:srgbClr val="475569"/>
                </a:solidFill>
                <a:latin typeface="Segoe UI"/>
              </a:rPr>
              <a:t>SQLiteOpenHelper</a:t>
            </a:r>
            <a:r>
              <a:rPr b="0" sz="1125" i="0" u="none">
                <a:solidFill>
                  <a:srgbClr val="475569"/>
                </a:solidFill>
                <a:latin typeface="Segoe UI"/>
              </a:rPr>
              <a:t> untuk inisiasi tabel awal via </a:t>
            </a:r>
            <a:r>
              <a:rPr b="0" sz="1125" i="0" u="none">
                <a:solidFill>
                  <a:srgbClr val="475569"/>
                </a:solidFill>
                <a:latin typeface="Segoe UI"/>
              </a:rPr>
              <a:t>onCreate()</a:t>
            </a:r>
            <a:r>
              <a:rPr b="0" sz="1125" i="0" u="none">
                <a:solidFill>
                  <a:srgbClr val="475569"/>
                </a:solidFill>
                <a:latin typeface="Segoe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9525" y="2144910"/>
            <a:ext cx="24628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Create &amp;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9525" y="2478285"/>
            <a:ext cx="19716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Menyimpan atau memperbarui data form input ke dalam baris tabel.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2144910"/>
            <a:ext cx="24628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Read &amp; Cursor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2478285"/>
            <a:ext cx="19716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Melakukan query iterasi penarikan baris data untuk komponen tampilan.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2144910"/>
            <a:ext cx="24628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b="1" sz="1500" i="0" u="none">
                <a:solidFill>
                  <a:srgbClr val="0F172A"/>
                </a:solidFill>
                <a:latin typeface="Segoe UI"/>
              </a:rP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2478285"/>
            <a:ext cx="19716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Segoe UI"/>
              </a:rPr>
              <a:t>Menghapus baris catatan data secara spesifik berdasarkan primary key.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11700" y="3032819"/>
            <a:ext cx="116859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Segoe UI"/>
              </a:rPr>
              <a:t>BAGIAN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4772" y="3299519"/>
            <a:ext cx="6882305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Cloud Database Firebase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67600" y="2924175"/>
            <a:ext cx="3962400" cy="1009650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67600" y="2924175"/>
            <a:ext cx="38100" cy="10096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711225"/>
            <a:ext cx="6477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6: FIREBASE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977925"/>
            <a:ext cx="680085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Realtime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94086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Format NoSQL: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Penyimpanan data terstruktur berhirarki pohon 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07258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Sinkronisasi Instan: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Perubahan data otomatis terpancar ke semua klien.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20430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Dukungan Offline: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Cache data lokal saat perangkat kehilangan koneksi.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533602"/>
            <a:ext cx="5276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No-Backend: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Eksekusi operasi basis data langsung dari aplikasi tanpa server fisik.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6162" y="3228975"/>
            <a:ext cx="4143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B45309"/>
                </a:solidFill>
                <a:latin typeface="Segoe UI"/>
              </a:rPr>
              <a:t>CLOUD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6162" y="3457575"/>
            <a:ext cx="4143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Segoe UI"/>
              </a:rPr>
              <a:t>Client A ⇄ Realtime Database ⇄ Client 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935360"/>
            <a:ext cx="518160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1935360"/>
            <a:ext cx="5181600" cy="4160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935360"/>
            <a:ext cx="38100" cy="416063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1935360"/>
            <a:ext cx="38100" cy="4160639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egoe UI"/>
              </a:rPr>
              <a:t>BAB 6: FIREBASE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28700"/>
            <a:ext cx="114300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Integrasi &amp; Eksekusi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240160"/>
            <a:ext cx="5950743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Tahap Setup Proyek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2240160"/>
            <a:ext cx="5600700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F172A"/>
                </a:solidFill>
                <a:latin typeface="Segoe UI"/>
              </a:rPr>
              <a:t>Eksekusi Operasi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731591"/>
            <a:ext cx="56673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Daftarkan aplikasi di Firebase Console.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104852"/>
            <a:ext cx="56673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Unduh dan pasang berkas 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google-services.json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478113"/>
            <a:ext cx="56673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Segoe UI"/>
              </a:rPr>
              <a:t>Sinkronisasi dependensi plugin Gradle.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2731591"/>
            <a:ext cx="56007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Write: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Menggunakan 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setValue()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pada child 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104852"/>
            <a:ext cx="46291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Read: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Menggunakan 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ValueEventListener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pemantau node.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718024"/>
            <a:ext cx="56007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Segoe UI"/>
              </a:rPr>
              <a:t>Delete: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Menggunakan 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removeValue()</a:t>
            </a:r>
            <a:r>
              <a:rPr b="0" sz="1350" i="0" u="none">
                <a:solidFill>
                  <a:srgbClr val="334155"/>
                </a:solidFill>
                <a:latin typeface="Segoe UI"/>
              </a:rPr>
              <a:t> pada target.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0" y="4568130"/>
            <a:ext cx="571500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17046" y="2251769"/>
            <a:ext cx="135790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0A5FA"/>
                </a:solidFill>
                <a:latin typeface="Segoe UI"/>
              </a:rP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67" y="2518469"/>
            <a:ext cx="7711315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Segoe UI"/>
              </a:rPr>
              <a:t>Sintesis Akhir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5843" y="3272730"/>
            <a:ext cx="101203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Segoe UI"/>
              </a:rPr>
              <a:t>Pengembangan aplikasi Android yang profesional menuntut pemahaman matang mulai dari struktur UI berbasis Activity/Intent, manajemen latar belakang yang efisien, hingga ketangguhan arsitektur data lokal (SQLite) dan cloud (Firebase).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2134641" cy="262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000000"/>
                </a:solidFill>
                <a:latin typeface="Segoe UI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